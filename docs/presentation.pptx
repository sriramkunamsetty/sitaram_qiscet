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Introduce the team, the challenge and the one-line idea: a digital twin that decides when to test.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through the three numbers, then pose the question: if a patient can afford only a few strips a day, when should they test?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Three verbs: learn, predict, decide. The third is what other teams do not have.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Take the five steps in order. Emphasise that the doctor stays in the loop and every number is auditable.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Read the NASEM definition, then walk down the table. Each row is something a plain classifier cannot 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Left to right: data in, twin core, decisions out. Point out the amber loop: the twin asks the patient for data.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that this is deliberately not a black box. Each component is interpretable and carries uncertainty.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Stress that the truth is known, so we can score predictions exactly. Be upfront that this is synthetic data.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Read the table, not just the chart. At one or two strips the twin beats the fixed schedule and uses fewer strips. At three and four strips a random schedule catches up; say so.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slide protects our credibility. Read the limitations aloud: few events, synthetic data, and the tracking trade-off.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the doctor's eye path: patient on the left, forecast in the middle with the amber 'test here' markers, risks and strips on the right.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Say plainly that this is a research prototype and gives no dosing advice. Mention the DPDP and CDSCO points as design direction, not compliance claims.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with the roadmap and the repository link. Invite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617720"/>
            <a:ext cx="12191695" cy="64008"/>
          </a:xfrm>
          <a:prstGeom prst="rect">
            <a:avLst/>
          </a:prstGeom>
          <a:solidFill>
            <a:srgbClr val="E08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10515600" cy="10972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6600" b="1">
                <a:solidFill>
                  <a:srgbClr val="FFFFFF"/>
                </a:solidFill>
                <a:latin typeface="Calibri"/>
              </a:rPr>
              <a:t>Pratibimb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10515600" cy="6400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0">
                <a:solidFill>
                  <a:srgbClr val="9FD8D9"/>
                </a:solidFill>
                <a:latin typeface="Nirmala UI"/>
              </a:rPr>
              <a:t>प्रतिबिंब  (reflection)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560320"/>
            <a:ext cx="10881360" cy="9144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2700" b="0">
                <a:solidFill>
                  <a:srgbClr val="FFFFFF"/>
                </a:solidFill>
                <a:latin typeface="Calibri"/>
              </a:rPr>
              <a:t>A metabolic digital twin for Type 2 Diabetes that decides when to test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703320"/>
            <a:ext cx="10698480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0">
                <a:solidFill>
                  <a:srgbClr val="9FD8D9"/>
                </a:solidFill>
                <a:latin typeface="Calibri"/>
              </a:rPr>
              <a:t>India-calibrated  |  Digital Twin Challenge 2026  |  Happiest Health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892040"/>
            <a:ext cx="548640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1">
                <a:solidFill>
                  <a:srgbClr val="F6C56B"/>
                </a:solidFill>
                <a:latin typeface="Calibri"/>
              </a:rPr>
              <a:t>Team SITARAM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394960"/>
            <a:ext cx="10972800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FFFFFF"/>
                </a:solidFill>
                <a:latin typeface="Calibri"/>
              </a:rPr>
              <a:t>Mohan Sriram Kunamsetty  (Team Leader), QIS College of Engineering and Technology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779008"/>
            <a:ext cx="10972800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FFFFFF"/>
                </a:solidFill>
                <a:latin typeface="Calibri"/>
              </a:rPr>
              <a:t>Mohana Lakshmi Srija Kunamsetty  (Team Member), RISE Krishna Sai College of Engineering and Technology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6263640"/>
            <a:ext cx="1097280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9FD8D9"/>
                </a:solidFill>
                <a:latin typeface="Calibri"/>
              </a:rPr>
              <a:t>github.com/SriRamkunamsetty/SITARAM_QISCET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1185855" cy="7772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The problem: silent lows, and CGM is out of reach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5B6B7F"/>
                </a:solidFill>
                <a:latin typeface="Calibri"/>
              </a:rPr>
              <a:t>Team SITARAM  |  Pratibimb  |  Digital Twin Challenge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5B6B7F"/>
                </a:solidFill>
                <a:latin typeface="Calibri"/>
              </a:rPr>
              <a:t>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417320"/>
            <a:ext cx="3611880" cy="2651760"/>
          </a:xfrm>
          <a:prstGeom prst="roundRect">
            <a:avLst>
              <a:gd name="adj" fmla="val 6000"/>
            </a:avLst>
          </a:prstGeom>
          <a:solidFill>
            <a:srgbClr val="E3E9F2"/>
          </a:solidFill>
          <a:ln w="19050">
            <a:solidFill>
              <a:srgbClr val="0B25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554480"/>
            <a:ext cx="333756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0B2545"/>
                </a:solidFill>
                <a:latin typeface="Calibri"/>
              </a:rPr>
              <a:t>~101 million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377440"/>
            <a:ext cx="3337560" cy="16459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1F2D3D"/>
                </a:solidFill>
                <a:latin typeface="Calibri"/>
              </a:rPr>
              <a:t>people with diabetes in India (ICMR-INDIAB-17, Lancet D&amp;E 2023)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1417320"/>
            <a:ext cx="3611880" cy="2651760"/>
          </a:xfrm>
          <a:prstGeom prst="roundRect">
            <a:avLst>
              <a:gd name="adj" fmla="val 6000"/>
            </a:avLst>
          </a:prstGeom>
          <a:solidFill>
            <a:srgbClr val="E3E9F2"/>
          </a:solidFill>
          <a:ln w="19050">
            <a:solidFill>
              <a:srgbClr val="0B25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80560" y="1554480"/>
            <a:ext cx="333756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0B2545"/>
                </a:solidFill>
                <a:latin typeface="Calibri"/>
              </a:rPr>
              <a:t>67% / 73%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60" y="2377440"/>
            <a:ext cx="3337560" cy="16459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1F2D3D"/>
                </a:solidFill>
                <a:latin typeface="Calibri"/>
              </a:rPr>
              <a:t>In sulfonylurea-treated adults on CGM, lows were typically nocturnal (67%) and asymptomatic (73%)  (Middleton, Diabetes Care 2017)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38160" y="1417320"/>
            <a:ext cx="3611880" cy="2651760"/>
          </a:xfrm>
          <a:prstGeom prst="roundRect">
            <a:avLst>
              <a:gd name="adj" fmla="val 6000"/>
            </a:avLst>
          </a:prstGeom>
          <a:solidFill>
            <a:srgbClr val="E3E9F2"/>
          </a:solidFill>
          <a:ln w="19050">
            <a:solidFill>
              <a:srgbClr val="0B25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75320" y="1554480"/>
            <a:ext cx="333756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0B2545"/>
                </a:solidFill>
                <a:latin typeface="Calibri"/>
              </a:rPr>
              <a:t>~Rs 9,000 / month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75320" y="2377440"/>
            <a:ext cx="3337560" cy="16459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1F2D3D"/>
                </a:solidFill>
                <a:latin typeface="Calibri"/>
              </a:rPr>
              <a:t>cost of continuous CGM in India: Rs 4,200-5,250 per 14-day sensor (2026 retail prices)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4434840"/>
            <a:ext cx="11109960" cy="1508760"/>
          </a:xfrm>
          <a:prstGeom prst="roundRect">
            <a:avLst>
              <a:gd name="adj" fmla="val 6000"/>
            </a:avLst>
          </a:prstGeom>
          <a:solidFill>
            <a:srgbClr val="FCEFD6"/>
          </a:solidFill>
          <a:ln w="19050">
            <a:solidFill>
              <a:srgbClr val="E08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4526280"/>
            <a:ext cx="1069848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E08E0B"/>
                </a:solidFill>
                <a:latin typeface="Calibri"/>
              </a:rPr>
              <a:t>The question we answer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4937760"/>
            <a:ext cx="10698480" cy="10058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2300" b="1">
                <a:solidFill>
                  <a:srgbClr val="0B2545"/>
                </a:solidFill>
                <a:latin typeface="Calibri"/>
              </a:rPr>
              <a:t>With only 1-4 test strips a day, WHEN should a patient test so that dangerous lows are predicted before they happen?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1185855" cy="7772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Our idea: a twin that learns, predicts, and decides when to test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5B6B7F"/>
                </a:solidFill>
                <a:latin typeface="Calibri"/>
              </a:rPr>
              <a:t>Team SITARAM  |  Pratibimb  |  Digital Twin Challenge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5B6B7F"/>
                </a:solidFill>
                <a:latin typeface="Calibri"/>
              </a:rPr>
              <a:t>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463040"/>
            <a:ext cx="3611880" cy="3566160"/>
          </a:xfrm>
          <a:prstGeom prst="roundRect">
            <a:avLst>
              <a:gd name="adj" fmla="val 6000"/>
            </a:avLst>
          </a:prstGeom>
          <a:solidFill>
            <a:srgbClr val="DDF1F1"/>
          </a:solidFill>
          <a:ln w="19050">
            <a:solidFill>
              <a:srgbClr val="0F8B8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600200"/>
            <a:ext cx="3246120" cy="6400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0F8B8D"/>
                </a:solidFill>
                <a:latin typeface="Calibri"/>
              </a:rPr>
              <a:t>1  Learn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423160"/>
            <a:ext cx="3246120" cy="2560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1F2D3D"/>
                </a:solidFill>
                <a:latin typeface="Calibri"/>
              </a:rPr>
              <a:t>A personal physiological model starts from the EHR and an Indian-specific prior, then learns the patient's insulin sensitivity, basal glucose and drug response from every reading.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1463040"/>
            <a:ext cx="3611880" cy="3566160"/>
          </a:xfrm>
          <a:prstGeom prst="roundRect">
            <a:avLst>
              <a:gd name="adj" fmla="val 6000"/>
            </a:avLst>
          </a:prstGeom>
          <a:solidFill>
            <a:srgbClr val="E3E9F2"/>
          </a:solidFill>
          <a:ln w="19050">
            <a:solidFill>
              <a:srgbClr val="0B25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26280" y="1600200"/>
            <a:ext cx="3246120" cy="6400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0B2545"/>
                </a:solidFill>
                <a:latin typeface="Calibri"/>
              </a:rPr>
              <a:t>2  Predict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26280" y="2423160"/>
            <a:ext cx="3246120" cy="2560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1F2D3D"/>
                </a:solidFill>
                <a:latin typeface="Calibri"/>
              </a:rPr>
              <a:t>Forecast glucose with honest uncertainty bands, and the probability of hypoglycaemia (below 70 and below 54 mg/dL) in the coming hours and overnight.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38160" y="1463040"/>
            <a:ext cx="3611880" cy="3566160"/>
          </a:xfrm>
          <a:prstGeom prst="roundRect">
            <a:avLst>
              <a:gd name="adj" fmla="val 6000"/>
            </a:avLst>
          </a:prstGeom>
          <a:solidFill>
            <a:srgbClr val="FCEFD6"/>
          </a:solidFill>
          <a:ln w="19050">
            <a:solidFill>
              <a:srgbClr val="E08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21040" y="1600200"/>
            <a:ext cx="3246120" cy="6400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E08E0B"/>
                </a:solidFill>
                <a:latin typeface="Calibri"/>
              </a:rPr>
              <a:t>3  Decide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21040" y="2423160"/>
            <a:ext cx="3246120" cy="2560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1F2D3D"/>
                </a:solidFill>
                <a:latin typeface="Calibri"/>
              </a:rPr>
              <a:t>Choose the testing times that tell the twin the most about upcoming lows, and re-plan after every reading. Fewer strips, better warnings.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5349240"/>
            <a:ext cx="1106424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5B6B7F"/>
                </a:solidFill>
                <a:latin typeface="Calibri"/>
              </a:rPr>
              <a:t>A classifier gives a number once. A digital twin keeps learning the patient and tells you what to do next.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1185855" cy="7772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Healthcare use case: one patient, one day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5B6B7F"/>
                </a:solidFill>
                <a:latin typeface="Calibri"/>
              </a:rPr>
              <a:t>Team SITARAM  |  Pratibimb  |  Digital Twin Challenge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5B6B7F"/>
                </a:solidFill>
                <a:latin typeface="Calibri"/>
              </a:rPr>
              <a:t>4</a:t>
            </a:r>
          </a:p>
        </p:txBody>
      </p:sp>
      <p:sp>
        <p:nvSpPr>
          <p:cNvPr id="7" name="Pentagon 6"/>
          <p:cNvSpPr/>
          <p:nvPr/>
        </p:nvSpPr>
        <p:spPr>
          <a:xfrm>
            <a:off x="411480" y="1554480"/>
            <a:ext cx="2240280" cy="822960"/>
          </a:xfrm>
          <a:prstGeom prst="homePlate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02920" y="1572768"/>
            <a:ext cx="1920240" cy="7772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600"/>
              </a:spcAft>
            </a:pPr>
            <a:r>
              <a:rPr sz="2100" b="1">
                <a:solidFill>
                  <a:srgbClr val="FFFFFF"/>
                </a:solidFill>
                <a:latin typeface="Calibri"/>
              </a:rPr>
              <a:t>Enrol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606040"/>
            <a:ext cx="2103120" cy="23774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1F2D3D"/>
                </a:solidFill>
                <a:latin typeface="Calibri"/>
              </a:rPr>
              <a:t>Doctor creates the twin from the EHR: age, BMI, waist, HbA1c, fasting glucose, regimen.</a:t>
            </a:r>
          </a:p>
        </p:txBody>
      </p:sp>
      <p:sp>
        <p:nvSpPr>
          <p:cNvPr id="10" name="Pentagon 9"/>
          <p:cNvSpPr/>
          <p:nvPr/>
        </p:nvSpPr>
        <p:spPr>
          <a:xfrm>
            <a:off x="2697480" y="1554480"/>
            <a:ext cx="2240280" cy="822960"/>
          </a:xfrm>
          <a:prstGeom prst="homePlate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2788920" y="1572768"/>
            <a:ext cx="1920240" cy="7772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600"/>
              </a:spcAft>
            </a:pPr>
            <a:r>
              <a:rPr sz="2100" b="1">
                <a:solidFill>
                  <a:srgbClr val="FFFFFF"/>
                </a:solidFill>
                <a:latin typeface="Calibri"/>
              </a:rPr>
              <a:t>Personalise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0" y="2606040"/>
            <a:ext cx="2103120" cy="23774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1F2D3D"/>
                </a:solidFill>
                <a:latin typeface="Calibri"/>
              </a:rPr>
              <a:t>Indian endotype prior, then the twin learns from each reading plus the meal and dose log.</a:t>
            </a:r>
          </a:p>
        </p:txBody>
      </p:sp>
      <p:sp>
        <p:nvSpPr>
          <p:cNvPr id="13" name="Pentagon 12"/>
          <p:cNvSpPr/>
          <p:nvPr/>
        </p:nvSpPr>
        <p:spPr>
          <a:xfrm>
            <a:off x="4983480" y="1554480"/>
            <a:ext cx="2240280" cy="822960"/>
          </a:xfrm>
          <a:prstGeom prst="homePlate">
            <a:avLst/>
          </a:prstGeom>
          <a:solidFill>
            <a:srgbClr val="E08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5074920" y="1572768"/>
            <a:ext cx="1920240" cy="7772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600"/>
              </a:spcAft>
            </a:pPr>
            <a:r>
              <a:rPr sz="2100" b="1">
                <a:solidFill>
                  <a:srgbClr val="FFFFFF"/>
                </a:solidFill>
                <a:latin typeface="Calibri"/>
              </a:rPr>
              <a:t>Plan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0" y="2606040"/>
            <a:ext cx="2103120" cy="23774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1F2D3D"/>
                </a:solidFill>
                <a:latin typeface="Calibri"/>
              </a:rPr>
              <a:t>Each morning: the most informative testing times for the patient's strip budget.</a:t>
            </a:r>
          </a:p>
        </p:txBody>
      </p:sp>
      <p:sp>
        <p:nvSpPr>
          <p:cNvPr id="16" name="Pentagon 15"/>
          <p:cNvSpPr/>
          <p:nvPr/>
        </p:nvSpPr>
        <p:spPr>
          <a:xfrm>
            <a:off x="7269480" y="1554480"/>
            <a:ext cx="2240280" cy="822960"/>
          </a:xfrm>
          <a:prstGeom prst="homePlate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7360920" y="1572768"/>
            <a:ext cx="1920240" cy="7772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600"/>
              </a:spcAft>
            </a:pPr>
            <a:r>
              <a:rPr sz="2100" b="1">
                <a:solidFill>
                  <a:srgbClr val="FFFFFF"/>
                </a:solidFill>
                <a:latin typeface="Calibri"/>
              </a:rPr>
              <a:t>Warn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0" y="2606040"/>
            <a:ext cx="2103120" cy="23774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1F2D3D"/>
                </a:solidFill>
                <a:latin typeface="Calibri"/>
              </a:rPr>
              <a:t>At bedtime: overnight hypoglycaemia risk with an uncertainty band. Doctor reviews the dose.</a:t>
            </a:r>
          </a:p>
        </p:txBody>
      </p:sp>
      <p:sp>
        <p:nvSpPr>
          <p:cNvPr id="19" name="Pentagon 18"/>
          <p:cNvSpPr/>
          <p:nvPr/>
        </p:nvSpPr>
        <p:spPr>
          <a:xfrm>
            <a:off x="9555480" y="1554480"/>
            <a:ext cx="2240280" cy="822960"/>
          </a:xfrm>
          <a:prstGeom prst="homePlate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9646919" y="1572768"/>
            <a:ext cx="1920240" cy="7772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600"/>
              </a:spcAft>
            </a:pPr>
            <a:r>
              <a:rPr sz="2100" b="1">
                <a:solidFill>
                  <a:srgbClr val="FFFFFF"/>
                </a:solidFill>
                <a:latin typeface="Calibri"/>
              </a:rPr>
              <a:t>Audit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01200" y="2606040"/>
            <a:ext cx="2103120" cy="23774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1F2D3D"/>
                </a:solidFill>
                <a:latin typeface="Calibri"/>
              </a:rPr>
              <a:t>Every number traces back to the exact readings and events behind it.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4572000"/>
            <a:ext cx="11109960" cy="1234440"/>
          </a:xfrm>
          <a:prstGeom prst="roundRect">
            <a:avLst>
              <a:gd name="adj" fmla="val 6000"/>
            </a:avLst>
          </a:prstGeom>
          <a:solidFill>
            <a:srgbClr val="E3E9F2"/>
          </a:solidFill>
          <a:ln w="19050">
            <a:solidFill>
              <a:srgbClr val="0B25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" y="4663440"/>
            <a:ext cx="10698480" cy="10972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0B2545"/>
                </a:solidFill>
                <a:latin typeface="Calibri"/>
              </a:rPr>
              <a:t>Who benefits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1F2D3D"/>
                </a:solidFill>
                <a:latin typeface="Calibri"/>
              </a:rPr>
              <a:t>Patients on sulfonylureas without a CGM, and the diabetologists who must decide who needs review tonight, not next month.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1185855" cy="7772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Why this is a digital twin, not just a prediction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5B6B7F"/>
                </a:solidFill>
                <a:latin typeface="Calibri"/>
              </a:rPr>
              <a:t>Team SITARAM  |  Pratibimb  |  Digital Twin Challenge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5B6B7F"/>
                </a:solidFill>
                <a:latin typeface="Calibri"/>
              </a:rPr>
              <a:t>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188720"/>
            <a:ext cx="11064240" cy="6400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5B6B7F"/>
                </a:solidFill>
                <a:latin typeface="Calibri"/>
              </a:rPr>
              <a:t>NASEM (2023): a virtual representation that is dynamically updated from its physical twin, has predictive capability, and informs decisions.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1920240"/>
          <a:ext cx="11064240" cy="39684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31920"/>
                <a:gridCol w="7132320"/>
              </a:tblGrid>
              <a:tr h="566928"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NASEM element</a:t>
                      </a:r>
                    </a:p>
                  </a:txBody>
                  <a:tcPr marL="73152" marR="73152" marT="27432" marB="27432" anchor="ctr">
                    <a:solidFill>
                      <a:srgbClr val="0B254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Pratibimb</a:t>
                      </a:r>
                    </a:p>
                  </a:txBody>
                  <a:tcPr marL="73152" marR="73152" marT="27432" marB="27432" anchor="ctr">
                    <a:solidFill>
                      <a:srgbClr val="0B2545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1F2D3D"/>
                          </a:solidFill>
                          <a:latin typeface="Calibri"/>
                        </a:rPr>
                        <a:t>Virtual representation of a specific patient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F2D3D"/>
                          </a:solidFill>
                          <a:latin typeface="Calibri"/>
                        </a:rPr>
                        <a:t>10-state glucose, insulin, gut and drug model with 6 patient-specific parameters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1F2D3D"/>
                          </a:solidFill>
                          <a:latin typeface="Calibri"/>
                        </a:rPr>
                        <a:t>Dynamically updated from the physical twin</a:t>
                      </a:r>
                    </a:p>
                  </a:txBody>
                  <a:tcPr marL="73152" marR="73152" marT="27432" marB="27432" anchor="ctr">
                    <a:solidFill>
                      <a:srgbClr val="F4F7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F2D3D"/>
                          </a:solidFill>
                          <a:latin typeface="Calibri"/>
                        </a:rPr>
                        <a:t>Particle filter assimilates every reading (fingerstick or CGM)</a:t>
                      </a:r>
                    </a:p>
                  </a:txBody>
                  <a:tcPr marL="73152" marR="73152" marT="27432" marB="27432" anchor="ctr">
                    <a:solidFill>
                      <a:srgbClr val="F4F7FA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1F2D3D"/>
                          </a:solidFill>
                          <a:latin typeface="Calibri"/>
                        </a:rPr>
                        <a:t>Predictive capability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F2D3D"/>
                          </a:solidFill>
                          <a:latin typeface="Calibri"/>
                        </a:rPr>
                        <a:t>Posterior-predictive glucose trajectories and event probabilities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1F2D3D"/>
                          </a:solidFill>
                          <a:latin typeface="Calibri"/>
                        </a:rPr>
                        <a:t>Informs decisions</a:t>
                      </a:r>
                    </a:p>
                  </a:txBody>
                  <a:tcPr marL="73152" marR="73152" marT="27432" marB="27432" anchor="ctr">
                    <a:solidFill>
                      <a:srgbClr val="F4F7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F2D3D"/>
                          </a:solidFill>
                          <a:latin typeface="Calibri"/>
                        </a:rPr>
                        <a:t>Active-sensing planner (when to test), overnight risk at bedtime</a:t>
                      </a:r>
                    </a:p>
                  </a:txBody>
                  <a:tcPr marL="73152" marR="73152" marT="27432" marB="27432" anchor="ctr">
                    <a:solidFill>
                      <a:srgbClr val="F4F7FA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1F2D3D"/>
                          </a:solidFill>
                          <a:latin typeface="Calibri"/>
                        </a:rPr>
                        <a:t>Two-way data flow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F2D3D"/>
                          </a:solidFill>
                          <a:latin typeface="Calibri"/>
                        </a:rPr>
                        <a:t>The twin asks the patient to test at 16:30 and updates on the answer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1F2D3D"/>
                          </a:solidFill>
                          <a:latin typeface="Calibri"/>
                        </a:rPr>
                        <a:t>Verification, validation, uncertainty</a:t>
                      </a:r>
                    </a:p>
                  </a:txBody>
                  <a:tcPr marL="73152" marR="73152" marT="27432" marB="27432" anchor="ctr">
                    <a:solidFill>
                      <a:srgbClr val="F4F7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F2D3D"/>
                          </a:solidFill>
                          <a:latin typeface="Calibri"/>
                        </a:rPr>
                        <a:t>29 unit tests, known-truth evaluation, bootstrap CIs, full audit log</a:t>
                      </a:r>
                    </a:p>
                  </a:txBody>
                  <a:tcPr marL="73152" marR="73152" marT="27432" marB="27432" anchor="ctr">
                    <a:solidFill>
                      <a:srgbClr val="F4F7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1185855" cy="7772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System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5B6B7F"/>
                </a:solidFill>
                <a:latin typeface="Calibri"/>
              </a:rPr>
              <a:t>Team SITARAM  |  Pratibimb  |  Digital Twin Challenge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5B6B7F"/>
                </a:solidFill>
                <a:latin typeface="Calibri"/>
              </a:rPr>
              <a:t>6</a:t>
            </a:r>
          </a:p>
        </p:txBody>
      </p:sp>
      <p:pic>
        <p:nvPicPr>
          <p:cNvPr id="7" name="Picture 6" descr="architectu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8720" y="1097280"/>
            <a:ext cx="9365712" cy="53035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1185855" cy="7772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AI / ML methods: hybrid physiology + probabilistic inference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5B6B7F"/>
                </a:solidFill>
                <a:latin typeface="Calibri"/>
              </a:rPr>
              <a:t>Team SITARAM  |  Pratibimb  |  Digital Twin Challenge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5B6B7F"/>
                </a:solidFill>
                <a:latin typeface="Calibri"/>
              </a:rPr>
              <a:t>7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11480" y="1188720"/>
          <a:ext cx="11384279" cy="40599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48840"/>
                <a:gridCol w="5486400"/>
                <a:gridCol w="3749039"/>
              </a:tblGrid>
              <a:tr h="676656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Component</a:t>
                      </a:r>
                    </a:p>
                  </a:txBody>
                  <a:tcPr marL="73152" marR="73152" marT="27432" marB="27432" anchor="ctr">
                    <a:solidFill>
                      <a:srgbClr val="0B254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Method</a:t>
                      </a:r>
                    </a:p>
                  </a:txBody>
                  <a:tcPr marL="73152" marR="73152" marT="27432" marB="27432" anchor="ctr">
                    <a:solidFill>
                      <a:srgbClr val="0B254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Why</a:t>
                      </a:r>
                    </a:p>
                  </a:txBody>
                  <a:tcPr marL="73152" marR="73152" marT="27432" marB="27432" anchor="ctr">
                    <a:solidFill>
                      <a:srgbClr val="0B2545"/>
                    </a:solidFill>
                  </a:tcPr>
                </a:tc>
              </a:tr>
              <a:tr h="676656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1F2D3D"/>
                          </a:solidFill>
                          <a:latin typeface="Calibri"/>
                        </a:rPr>
                        <a:t>Mechanistic core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2D3D"/>
                          </a:solidFill>
                          <a:latin typeface="Calibri"/>
                        </a:rPr>
                        <a:t>Extended Bergman minimal model: 10 states, 6 patient parameters, RK4 solver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2D3D"/>
                          </a:solidFill>
                          <a:latin typeface="Calibri"/>
                        </a:rPr>
                        <a:t>Meaningful parameters; valid what-if simulation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676656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1F2D3D"/>
                          </a:solidFill>
                          <a:latin typeface="Calibri"/>
                        </a:rPr>
                        <a:t>Personalised prior</a:t>
                      </a:r>
                    </a:p>
                  </a:txBody>
                  <a:tcPr marL="73152" marR="73152" marT="27432" marB="27432" anchor="ctr">
                    <a:solidFill>
                      <a:srgbClr val="F4F7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2D3D"/>
                          </a:solidFill>
                          <a:latin typeface="Calibri"/>
                        </a:rPr>
                        <a:t>Soft assignment to 4 INSPIRED endotypes (n = 19,084), log-normal prior; wearables shift insulin sensitivity</a:t>
                      </a:r>
                    </a:p>
                  </a:txBody>
                  <a:tcPr marL="73152" marR="73152" marT="27432" marB="27432" anchor="ctr">
                    <a:solidFill>
                      <a:srgbClr val="F4F7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2D3D"/>
                          </a:solidFill>
                          <a:latin typeface="Calibri"/>
                        </a:rPr>
                        <a:t>Sensible twin on day 1, specific to Indian patients</a:t>
                      </a:r>
                    </a:p>
                  </a:txBody>
                  <a:tcPr marL="73152" marR="73152" marT="27432" marB="27432" anchor="ctr">
                    <a:solidFill>
                      <a:srgbClr val="F4F7FA"/>
                    </a:solidFill>
                  </a:tcPr>
                </a:tc>
              </a:tr>
              <a:tr h="676656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1F2D3D"/>
                          </a:solidFill>
                          <a:latin typeface="Calibri"/>
                        </a:rPr>
                        <a:t>Learning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2D3D"/>
                          </a:solidFill>
                          <a:latin typeface="Calibri"/>
                        </a:rPr>
                        <a:t>Joint state + parameter particle filter, Student-t likelihood, Liu-West resampling, parameter drift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2D3D"/>
                          </a:solidFill>
                          <a:latin typeface="Calibri"/>
                        </a:rPr>
                        <a:t>Learns online from sparse noisy data, with full posterior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676656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1F2D3D"/>
                          </a:solidFill>
                          <a:latin typeface="Calibri"/>
                        </a:rPr>
                        <a:t>Prediction</a:t>
                      </a:r>
                    </a:p>
                  </a:txBody>
                  <a:tcPr marL="73152" marR="73152" marT="27432" marB="27432" anchor="ctr">
                    <a:solidFill>
                      <a:srgbClr val="F4F7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2D3D"/>
                          </a:solidFill>
                          <a:latin typeface="Calibri"/>
                        </a:rPr>
                        <a:t>Posterior-predictive ensembles; P(&lt;70), P(&lt;54), P(&gt;250 mg/dL)</a:t>
                      </a:r>
                    </a:p>
                  </a:txBody>
                  <a:tcPr marL="73152" marR="73152" marT="27432" marB="27432" anchor="ctr">
                    <a:solidFill>
                      <a:srgbClr val="F4F7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2D3D"/>
                          </a:solidFill>
                          <a:latin typeface="Calibri"/>
                        </a:rPr>
                        <a:t>Risk with uncertainty, not a point guess</a:t>
                      </a:r>
                    </a:p>
                  </a:txBody>
                  <a:tcPr marL="73152" marR="73152" marT="27432" marB="27432" anchor="ctr">
                    <a:solidFill>
                      <a:srgbClr val="F4F7FA"/>
                    </a:solidFill>
                  </a:tcPr>
                </a:tc>
              </a:tr>
              <a:tr h="676656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1F2D3D"/>
                          </a:solidFill>
                          <a:latin typeface="Calibri"/>
                        </a:rPr>
                        <a:t>Decision (active sensing)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2D3D"/>
                          </a:solidFill>
                          <a:latin typeface="Calibri"/>
                        </a:rPr>
                        <a:t>Bayesian experimental design: greedy mutual information between readings and hypoglycaemia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2D3D"/>
                          </a:solidFill>
                          <a:latin typeface="Calibri"/>
                        </a:rPr>
                        <a:t>Picks WHEN to test for the most information per strip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11480" y="5852160"/>
            <a:ext cx="1133856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5B6B7F"/>
                </a:solidFill>
                <a:latin typeface="Calibri"/>
              </a:rPr>
              <a:t>Stack: Python, NumPy (no GPU needed), FastAPI, Pydantic, Docker, GitHub Actions CI (Python 3.11 and 3.12).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1185855" cy="7772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How we tested 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5B6B7F"/>
                </a:solidFill>
                <a:latin typeface="Calibri"/>
              </a:rPr>
              <a:t>Team SITARAM  |  Pratibimb  |  Digital Twin Challenge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5B6B7F"/>
                </a:solidFill>
                <a:latin typeface="Calibri"/>
              </a:rPr>
              <a:t>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325880"/>
            <a:ext cx="5669280" cy="4846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800"/>
              </a:spcAft>
            </a:pPr>
            <a:r>
              <a:rPr sz="1900" b="1">
                <a:solidFill>
                  <a:srgbClr val="0B2545"/>
                </a:solidFill>
                <a:latin typeface="Calibri"/>
              </a:rPr>
              <a:t>Virtual Indian cohort with known ground truth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1F2D3D"/>
                </a:solidFill>
                <a:latin typeface="Calibri"/>
              </a:rPr>
              <a:t>40 sulfonylurea-treated patients drawn from the INSPIRED endotype mix; 7 evaluation days each; 1,120 risk windows (morning, afternoon, evening, night).</a:t>
            </a:r>
          </a:p>
          <a:p>
            <a:pPr algn="l">
              <a:spcAft>
                <a:spcPts val="800"/>
              </a:spcAft>
            </a:pPr>
            <a:r>
              <a:rPr sz="1900" b="1">
                <a:solidFill>
                  <a:srgbClr val="0B2545"/>
                </a:solidFill>
                <a:latin typeface="Calibri"/>
              </a:rPr>
              <a:t>Honest mismatch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1F2D3D"/>
                </a:solidFill>
                <a:latin typeface="Calibri"/>
              </a:rPr>
              <a:t>The simulator differs from the twin: perturbed constants, daily parameter drift, carbohydrate-counting error, unlogged snacks, missed doses, device noise.</a:t>
            </a:r>
          </a:p>
          <a:p>
            <a:pPr algn="l">
              <a:spcAft>
                <a:spcPts val="800"/>
              </a:spcAft>
            </a:pPr>
            <a:r>
              <a:rPr sz="1900" b="1">
                <a:solidFill>
                  <a:srgbClr val="0B2545"/>
                </a:solidFill>
                <a:latin typeface="Calibri"/>
              </a:rPr>
              <a:t>Fair comparison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1F2D3D"/>
                </a:solidFill>
                <a:latin typeface="Calibri"/>
              </a:rPr>
              <a:t>Same truth, logs, meter noise and seed for every policy; patient-level paired bootstrap.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0" y="1325880"/>
            <a:ext cx="5029200" cy="4754880"/>
          </a:xfrm>
          <a:prstGeom prst="roundRect">
            <a:avLst>
              <a:gd name="adj" fmla="val 6000"/>
            </a:avLst>
          </a:prstGeom>
          <a:solidFill>
            <a:srgbClr val="DDF1F1"/>
          </a:solidFill>
          <a:ln w="19050">
            <a:solidFill>
              <a:srgbClr val="0F8B8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766560" y="1417320"/>
            <a:ext cx="466344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1">
                <a:solidFill>
                  <a:srgbClr val="0F8B8D"/>
                </a:solidFill>
                <a:latin typeface="Calibri"/>
              </a:rPr>
              <a:t>Testing policies compared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66560" y="1965960"/>
            <a:ext cx="4663440" cy="40233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900"/>
              </a:spcAft>
            </a:pPr>
            <a:r>
              <a:rPr sz="1600" b="0">
                <a:solidFill>
                  <a:srgbClr val="1F2D3D"/>
                </a:solidFill>
                <a:latin typeface="Calibri"/>
              </a:rPr>
              <a:t>No readings: prior + logs only</a:t>
            </a:r>
          </a:p>
          <a:p>
            <a:pPr algn="l">
              <a:spcAft>
                <a:spcPts val="900"/>
              </a:spcAft>
            </a:pPr>
            <a:r>
              <a:rPr sz="1600" b="0">
                <a:solidFill>
                  <a:srgbClr val="1F2D3D"/>
                </a:solidFill>
                <a:latin typeface="Calibri"/>
              </a:rPr>
              <a:t>Fixed: routine fasting / post-meal schedule</a:t>
            </a:r>
          </a:p>
          <a:p>
            <a:pPr algn="l">
              <a:spcAft>
                <a:spcPts val="900"/>
              </a:spcAft>
            </a:pPr>
            <a:r>
              <a:rPr sz="1600" b="0">
                <a:solidFill>
                  <a:srgbClr val="1F2D3D"/>
                </a:solidFill>
                <a:latin typeface="Calibri"/>
              </a:rPr>
              <a:t>Random: random waking times</a:t>
            </a:r>
          </a:p>
          <a:p>
            <a:pPr algn="l">
              <a:spcAft>
                <a:spcPts val="900"/>
              </a:spcAft>
            </a:pPr>
            <a:r>
              <a:rPr sz="1600" b="0">
                <a:solidFill>
                  <a:srgbClr val="1F2D3D"/>
                </a:solidFill>
                <a:latin typeface="Calibri"/>
              </a:rPr>
              <a:t>Twin-scheduled: information-maximising times, re-planned after every reading</a:t>
            </a:r>
          </a:p>
          <a:p>
            <a:pPr algn="l">
              <a:spcAft>
                <a:spcPts val="900"/>
              </a:spcAft>
            </a:pPr>
            <a:r>
              <a:rPr sz="1600" b="0">
                <a:solidFill>
                  <a:srgbClr val="1F2D3D"/>
                </a:solidFill>
                <a:latin typeface="Calibri"/>
              </a:rPr>
              <a:t>CGM: reading every 15 minutes (reference)</a:t>
            </a:r>
          </a:p>
          <a:p>
            <a:pPr algn="l">
              <a:spcAft>
                <a:spcPts val="900"/>
              </a:spcAft>
            </a:pPr>
            <a:r>
              <a:rPr sz="1600" b="1">
                <a:solidFill>
                  <a:srgbClr val="0B2545"/>
                </a:solidFill>
                <a:latin typeface="Calibri"/>
              </a:rPr>
              <a:t>Metric: AUROC and Brier score of P(low) at the start of each window.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1185855" cy="7772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Results: twin-chosen testing predicts lows better with fewer strips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5B6B7F"/>
                </a:solidFill>
                <a:latin typeface="Calibri"/>
              </a:rPr>
              <a:t>Team SITARAM  |  Pratibimb  |  Digital Twin Challenge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5B6B7F"/>
                </a:solidFill>
                <a:latin typeface="Calibri"/>
              </a:rPr>
              <a:t>9</a:t>
            </a:r>
          </a:p>
        </p:txBody>
      </p:sp>
      <p:pic>
        <p:nvPicPr>
          <p:cNvPr id="7" name="Picture 6" descr="strip_budge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1280160"/>
            <a:ext cx="6675120" cy="2548682"/>
          </a:xfrm>
          <a:prstGeom prst="rect">
            <a:avLst/>
          </a:prstGeom>
        </p:spPr>
      </p:pic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178040" y="1280160"/>
          <a:ext cx="4709160" cy="29443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00200"/>
                <a:gridCol w="822960"/>
                <a:gridCol w="777240"/>
                <a:gridCol w="777240"/>
                <a:gridCol w="731520"/>
              </a:tblGrid>
              <a:tr h="420624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Policy</a:t>
                      </a:r>
                    </a:p>
                  </a:txBody>
                  <a:tcPr marL="73152" marR="73152" marT="27432" marB="27432" anchor="ctr">
                    <a:solidFill>
                      <a:srgbClr val="0B254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Strips/day</a:t>
                      </a:r>
                    </a:p>
                  </a:txBody>
                  <a:tcPr marL="73152" marR="73152" marT="27432" marB="27432" anchor="ctr">
                    <a:solidFill>
                      <a:srgbClr val="0B254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AUROC</a:t>
                      </a:r>
                    </a:p>
                  </a:txBody>
                  <a:tcPr marL="73152" marR="73152" marT="27432" marB="27432" anchor="ctr">
                    <a:solidFill>
                      <a:srgbClr val="0B254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Brier</a:t>
                      </a:r>
                    </a:p>
                  </a:txBody>
                  <a:tcPr marL="73152" marR="73152" marT="27432" marB="27432" anchor="ctr">
                    <a:solidFill>
                      <a:srgbClr val="0B254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Sens.</a:t>
                      </a:r>
                    </a:p>
                  </a:txBody>
                  <a:tcPr marL="73152" marR="73152" marT="27432" marB="27432" anchor="ctr">
                    <a:solidFill>
                      <a:srgbClr val="0B2545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1F2D3D"/>
                          </a:solidFill>
                          <a:latin typeface="Calibri"/>
                        </a:rPr>
                        <a:t>Fixed, budget 1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F2D3D"/>
                          </a:solidFill>
                          <a:latin typeface="Calibri"/>
                        </a:rPr>
                        <a:t>1.0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F2D3D"/>
                          </a:solidFill>
                          <a:latin typeface="Calibri"/>
                        </a:rPr>
                        <a:t>0.954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F2D3D"/>
                          </a:solidFill>
                          <a:latin typeface="Calibri"/>
                        </a:rPr>
                        <a:t>0.0251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F2D3D"/>
                          </a:solidFill>
                          <a:latin typeface="Calibri"/>
                        </a:rPr>
                        <a:t>0.72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1F2D3D"/>
                          </a:solidFill>
                          <a:latin typeface="Calibri"/>
                        </a:rPr>
                        <a:t>Twin, budget 1</a:t>
                      </a:r>
                    </a:p>
                  </a:txBody>
                  <a:tcPr marL="73152" marR="73152" marT="27432" marB="27432" anchor="ctr">
                    <a:solidFill>
                      <a:srgbClr val="F4F7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F2D3D"/>
                          </a:solidFill>
                          <a:latin typeface="Calibri"/>
                        </a:rPr>
                        <a:t>0.8</a:t>
                      </a:r>
                    </a:p>
                  </a:txBody>
                  <a:tcPr marL="73152" marR="73152" marT="27432" marB="27432" anchor="ctr">
                    <a:solidFill>
                      <a:srgbClr val="F4F7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F2D3D"/>
                          </a:solidFill>
                          <a:latin typeface="Calibri"/>
                        </a:rPr>
                        <a:t>0.985</a:t>
                      </a:r>
                    </a:p>
                  </a:txBody>
                  <a:tcPr marL="73152" marR="73152" marT="27432" marB="27432" anchor="ctr">
                    <a:solidFill>
                      <a:srgbClr val="F4F7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F2D3D"/>
                          </a:solidFill>
                          <a:latin typeface="Calibri"/>
                        </a:rPr>
                        <a:t>0.0167</a:t>
                      </a:r>
                    </a:p>
                  </a:txBody>
                  <a:tcPr marL="73152" marR="73152" marT="27432" marB="27432" anchor="ctr">
                    <a:solidFill>
                      <a:srgbClr val="F4F7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F2D3D"/>
                          </a:solidFill>
                          <a:latin typeface="Calibri"/>
                        </a:rPr>
                        <a:t>0.79</a:t>
                      </a:r>
                    </a:p>
                  </a:txBody>
                  <a:tcPr marL="73152" marR="73152" marT="27432" marB="27432" anchor="ctr">
                    <a:solidFill>
                      <a:srgbClr val="F4F7FA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1F2D3D"/>
                          </a:solidFill>
                          <a:latin typeface="Calibri"/>
                        </a:rPr>
                        <a:t>Fixed, budget 2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F2D3D"/>
                          </a:solidFill>
                          <a:latin typeface="Calibri"/>
                        </a:rPr>
                        <a:t>2.0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F2D3D"/>
                          </a:solidFill>
                          <a:latin typeface="Calibri"/>
                        </a:rPr>
                        <a:t>0.974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F2D3D"/>
                          </a:solidFill>
                          <a:latin typeface="Calibri"/>
                        </a:rPr>
                        <a:t>0.0223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F2D3D"/>
                          </a:solidFill>
                          <a:latin typeface="Calibri"/>
                        </a:rPr>
                        <a:t>0.81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1F2D3D"/>
                          </a:solidFill>
                          <a:latin typeface="Calibri"/>
                        </a:rPr>
                        <a:t>Twin, budget 2</a:t>
                      </a:r>
                    </a:p>
                  </a:txBody>
                  <a:tcPr marL="73152" marR="73152" marT="27432" marB="27432" anchor="ctr">
                    <a:solidFill>
                      <a:srgbClr val="F4F7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F2D3D"/>
                          </a:solidFill>
                          <a:latin typeface="Calibri"/>
                        </a:rPr>
                        <a:t>1.4</a:t>
                      </a:r>
                    </a:p>
                  </a:txBody>
                  <a:tcPr marL="73152" marR="73152" marT="27432" marB="27432" anchor="ctr">
                    <a:solidFill>
                      <a:srgbClr val="F4F7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F2D3D"/>
                          </a:solidFill>
                          <a:latin typeface="Calibri"/>
                        </a:rPr>
                        <a:t>0.987</a:t>
                      </a:r>
                    </a:p>
                  </a:txBody>
                  <a:tcPr marL="73152" marR="73152" marT="27432" marB="27432" anchor="ctr">
                    <a:solidFill>
                      <a:srgbClr val="F4F7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F2D3D"/>
                          </a:solidFill>
                          <a:latin typeface="Calibri"/>
                        </a:rPr>
                        <a:t>0.0165</a:t>
                      </a:r>
                    </a:p>
                  </a:txBody>
                  <a:tcPr marL="73152" marR="73152" marT="27432" marB="27432" anchor="ctr">
                    <a:solidFill>
                      <a:srgbClr val="F4F7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F2D3D"/>
                          </a:solidFill>
                          <a:latin typeface="Calibri"/>
                        </a:rPr>
                        <a:t>0.85</a:t>
                      </a:r>
                    </a:p>
                  </a:txBody>
                  <a:tcPr marL="73152" marR="73152" marT="27432" marB="27432" anchor="ctr">
                    <a:solidFill>
                      <a:srgbClr val="F4F7FA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1F2D3D"/>
                          </a:solidFill>
                          <a:latin typeface="Calibri"/>
                        </a:rPr>
                        <a:t>CGM (reference)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F2D3D"/>
                          </a:solidFill>
                          <a:latin typeface="Calibri"/>
                        </a:rPr>
                        <a:t>65.0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F2D3D"/>
                          </a:solidFill>
                          <a:latin typeface="Calibri"/>
                        </a:rPr>
                        <a:t>0.990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F2D3D"/>
                          </a:solidFill>
                          <a:latin typeface="Calibri"/>
                        </a:rPr>
                        <a:t>0.0153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F2D3D"/>
                          </a:solidFill>
                          <a:latin typeface="Calibri"/>
                        </a:rPr>
                        <a:t>0.81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1F2D3D"/>
                          </a:solidFill>
                          <a:latin typeface="Calibri"/>
                        </a:rPr>
                        <a:t>No readings</a:t>
                      </a:r>
                    </a:p>
                  </a:txBody>
                  <a:tcPr marL="73152" marR="73152" marT="27432" marB="27432" anchor="ctr">
                    <a:solidFill>
                      <a:srgbClr val="F4F7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F2D3D"/>
                          </a:solidFill>
                          <a:latin typeface="Calibri"/>
                        </a:rPr>
                        <a:t>0.0</a:t>
                      </a:r>
                    </a:p>
                  </a:txBody>
                  <a:tcPr marL="73152" marR="73152" marT="27432" marB="27432" anchor="ctr">
                    <a:solidFill>
                      <a:srgbClr val="F4F7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F2D3D"/>
                          </a:solidFill>
                          <a:latin typeface="Calibri"/>
                        </a:rPr>
                        <a:t>0.856</a:t>
                      </a:r>
                    </a:p>
                  </a:txBody>
                  <a:tcPr marL="73152" marR="73152" marT="27432" marB="27432" anchor="ctr">
                    <a:solidFill>
                      <a:srgbClr val="F4F7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F2D3D"/>
                          </a:solidFill>
                          <a:latin typeface="Calibri"/>
                        </a:rPr>
                        <a:t>0.0368</a:t>
                      </a:r>
                    </a:p>
                  </a:txBody>
                  <a:tcPr marL="73152" marR="73152" marT="27432" marB="27432" anchor="ctr">
                    <a:solidFill>
                      <a:srgbClr val="F4F7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F2D3D"/>
                          </a:solidFill>
                          <a:latin typeface="Calibri"/>
                        </a:rPr>
                        <a:t>0.19</a:t>
                      </a:r>
                    </a:p>
                  </a:txBody>
                  <a:tcPr marL="73152" marR="73152" marT="27432" marB="27432" anchor="ctr">
                    <a:solidFill>
                      <a:srgbClr val="F4F7FA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7178040" y="4343400"/>
            <a:ext cx="4709160" cy="20116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0">
                <a:solidFill>
                  <a:srgbClr val="1F2D3D"/>
                </a:solidFill>
                <a:latin typeface="Calibri"/>
              </a:rPr>
              <a:t>Brier improvement vs fixed schedule excludes zero at every budget (at 1 strip: +0.008, 95% CI +0.002 to +0.016).</a:t>
            </a:r>
          </a:p>
          <a:p>
            <a:pPr algn="l">
              <a:spcAft>
                <a:spcPts val="800"/>
              </a:spcAft>
            </a:pPr>
            <a:r>
              <a:rPr sz="1200" b="0">
                <a:solidFill>
                  <a:srgbClr val="5B6B7F"/>
                </a:solidFill>
                <a:latin typeface="Calibri"/>
              </a:rPr>
              <a:t>AUROC / Brier: higher AUROC and lower Brier are better. Sens. = sensitivity at P &gt;= 0.2.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3931920"/>
            <a:ext cx="6583680" cy="731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5B6B7F"/>
                </a:solidFill>
                <a:latin typeface="Calibri"/>
              </a:rPr>
              <a:t>Chart: x-axis is the strip budget; the twin used fewer strips than the budget because it skips readings that would not change the risk estimate.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11480" y="4754880"/>
            <a:ext cx="6583680" cy="1508760"/>
          </a:xfrm>
          <a:prstGeom prst="roundRect">
            <a:avLst>
              <a:gd name="adj" fmla="val 6000"/>
            </a:avLst>
          </a:prstGeom>
          <a:solidFill>
            <a:srgbClr val="FCEFD6"/>
          </a:solidFill>
          <a:ln w="19050">
            <a:solidFill>
              <a:srgbClr val="E08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4828032"/>
            <a:ext cx="6217920" cy="1417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E08E0B"/>
                </a:solidFill>
                <a:latin typeface="Calibri"/>
              </a:rPr>
              <a:t>Where it does not help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F2D3D"/>
                </a:solidFill>
                <a:latin typeface="Calibri"/>
              </a:rPr>
              <a:t>At 3-4 strips a day a random schedule performs about as well as the twin (no significant difference), and general glucose tracking is worse than the fixed schedule because the planner optimises for lows.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1185855" cy="7772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What we claim, and what we do not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5B6B7F"/>
                </a:solidFill>
                <a:latin typeface="Calibri"/>
              </a:rPr>
              <a:t>Team SITARAM  |  Pratibimb  |  Digital Twin Challenge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5B6B7F"/>
                </a:solidFill>
                <a:latin typeface="Calibri"/>
              </a:rPr>
              <a:t>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371600"/>
            <a:ext cx="5440680" cy="3749039"/>
          </a:xfrm>
          <a:prstGeom prst="roundRect">
            <a:avLst>
              <a:gd name="adj" fmla="val 6000"/>
            </a:avLst>
          </a:prstGeom>
          <a:solidFill>
            <a:srgbClr val="DDF1F1"/>
          </a:solidFill>
          <a:ln w="19050">
            <a:solidFill>
              <a:srgbClr val="0F8B8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463040"/>
            <a:ext cx="512064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2100" b="1">
                <a:solidFill>
                  <a:srgbClr val="0F8B8D"/>
                </a:solidFill>
                <a:latin typeface="Calibri"/>
              </a:rPr>
              <a:t>What the evidence supports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057400"/>
            <a:ext cx="5120640" cy="3017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1000"/>
              </a:spcAft>
            </a:pPr>
            <a:r>
              <a:rPr sz="1600" b="0">
                <a:solidFill>
                  <a:srgbClr val="1F2D3D"/>
                </a:solidFill>
                <a:latin typeface="Calibri"/>
              </a:rPr>
              <a:t>At 1-2 strips a day, twin-chosen times predict hypoglycaemia better than the routine fasting / post-meal schedule.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1F2D3D"/>
                </a:solidFill>
                <a:latin typeface="Calibri"/>
              </a:rPr>
              <a:t>The twin uses fewer strips: it skips readings that would not change the risk estimate.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1F2D3D"/>
                </a:solidFill>
                <a:latin typeface="Calibri"/>
              </a:rPr>
              <a:t>With under one strip a day its risk ranking comes close to a CGM's (AUROC 0.985 vs 0.990).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371600"/>
            <a:ext cx="5440680" cy="3749039"/>
          </a:xfrm>
          <a:prstGeom prst="roundRect">
            <a:avLst>
              <a:gd name="adj" fmla="val 6000"/>
            </a:avLst>
          </a:prstGeom>
          <a:solidFill>
            <a:srgbClr val="FCEFD6"/>
          </a:solidFill>
          <a:ln w="19050">
            <a:solidFill>
              <a:srgbClr val="E08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1463040"/>
            <a:ext cx="512064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2100" b="1">
                <a:solidFill>
                  <a:srgbClr val="E08E0B"/>
                </a:solidFill>
                <a:latin typeface="Calibri"/>
              </a:rPr>
              <a:t>Limitations we state openly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2057400"/>
            <a:ext cx="5120640" cy="3017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1000"/>
              </a:spcAft>
            </a:pPr>
            <a:r>
              <a:rPr sz="1600" b="0">
                <a:solidFill>
                  <a:srgbClr val="1F2D3D"/>
                </a:solidFill>
                <a:latin typeface="Calibri"/>
              </a:rPr>
              <a:t>Only 5 of 40 virtual patients had any low (47 windows): small evidence base.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1F2D3D"/>
                </a:solidFill>
                <a:latin typeface="Calibri"/>
              </a:rPr>
              <a:t>Synthetic data only; the twin and simulator share model structure. Real-data validation is next.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1F2D3D"/>
                </a:solidFill>
                <a:latin typeface="Calibri"/>
              </a:rPr>
              <a:t>At 3-4 strips a random schedule matches the twin.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1F2D3D"/>
                </a:solidFill>
                <a:latin typeface="Calibri"/>
              </a:rPr>
              <a:t>General glucose tracking is worse than the fixed schedule (14.1 vs 10.4 mg/dL at budget 3): the planner optimises for lows.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5349240"/>
            <a:ext cx="11109960" cy="868680"/>
          </a:xfrm>
          <a:prstGeom prst="roundRect">
            <a:avLst>
              <a:gd name="adj" fmla="val 6000"/>
            </a:avLst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5394960"/>
            <a:ext cx="10698480" cy="7772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Bottom line: a promising result on synthetic patients. Validation on real patient data decides whether it holds.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1185855" cy="7772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Conceptual clinician dashboard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5B6B7F"/>
                </a:solidFill>
                <a:latin typeface="Calibri"/>
              </a:rPr>
              <a:t>Team SITARAM  |  Pratibimb  |  Digital Twin Challenge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5B6B7F"/>
                </a:solidFill>
                <a:latin typeface="Calibri"/>
              </a:rPr>
              <a:t>11</a:t>
            </a:r>
          </a:p>
        </p:txBody>
      </p:sp>
      <p:pic>
        <p:nvPicPr>
          <p:cNvPr id="7" name="Picture 6" descr="dashboard_mocku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8720" y="1097280"/>
            <a:ext cx="9428480" cy="530352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1185855" cy="7772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Safety, privacy and regulation by design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5B6B7F"/>
                </a:solidFill>
                <a:latin typeface="Calibri"/>
              </a:rPr>
              <a:t>Team SITARAM  |  Pratibimb  |  Digital Twin Challenge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5B6B7F"/>
                </a:solidFill>
                <a:latin typeface="Calibri"/>
              </a:rPr>
              <a:t>12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325880"/>
            <a:ext cx="109728" cy="822960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307592"/>
            <a:ext cx="107899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0B2545"/>
                </a:solidFill>
                <a:latin typeface="Calibri"/>
              </a:rPr>
              <a:t>No dosing advice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691640"/>
            <a:ext cx="10789920" cy="5029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1F2D3D"/>
                </a:solidFill>
                <a:latin typeface="Calibri"/>
              </a:rPr>
              <a:t>Outputs are forecasts and risk. Every API response carries a research-prototype disclaimer.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2304288"/>
            <a:ext cx="109728" cy="822960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2286000"/>
            <a:ext cx="107899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0B2545"/>
                </a:solidFill>
                <a:latin typeface="Calibri"/>
              </a:rPr>
              <a:t>Only synthetic and open data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2670048"/>
            <a:ext cx="10789920" cy="5029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1F2D3D"/>
                </a:solidFill>
                <a:latin typeface="Calibri"/>
              </a:rPr>
              <a:t>No patient data in the repository; dataset licences documented in DATA.md.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3282696"/>
            <a:ext cx="109728" cy="822960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3264408"/>
            <a:ext cx="107899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0B2545"/>
                </a:solidFill>
                <a:latin typeface="Calibri"/>
              </a:rPr>
              <a:t>Privacy by design (DPDP Act 2023 / Rules 2025)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3648456"/>
            <a:ext cx="10789920" cy="5029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1F2D3D"/>
                </a:solidFill>
                <a:latin typeface="Calibri"/>
              </a:rPr>
              <a:t>No names or identifiers in the profile, erasure endpoint, full audit trail. Consent management is future work.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4261104"/>
            <a:ext cx="109728" cy="822960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4242816"/>
            <a:ext cx="107899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0B2545"/>
                </a:solidFill>
                <a:latin typeface="Calibri"/>
              </a:rPr>
              <a:t>Regulatory awareness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4626864"/>
            <a:ext cx="10789920" cy="5029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1F2D3D"/>
                </a:solidFill>
                <a:latin typeface="Calibri"/>
              </a:rPr>
              <a:t>CDSCO draft guidance on medical device software (21 Oct 2025) would treat a clinical version as SaMD; we make no clinical claims.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5239512"/>
            <a:ext cx="109728" cy="822960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" y="5221224"/>
            <a:ext cx="107899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0B2545"/>
                </a:solidFill>
                <a:latin typeface="Calibri"/>
              </a:rPr>
              <a:t>Auditability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5605272"/>
            <a:ext cx="10789920" cy="5029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1F2D3D"/>
                </a:solidFill>
                <a:latin typeface="Calibri"/>
              </a:rPr>
              <a:t>Event-sourced: replaying the log reproduces every number the twin ever reported.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1185855" cy="7772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Next steps and how to run 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5B6B7F"/>
                </a:solidFill>
                <a:latin typeface="Calibri"/>
              </a:rPr>
              <a:t>Team SITARAM  |  Pratibimb  |  Digital Twin Challenge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5B6B7F"/>
                </a:solidFill>
                <a:latin typeface="Calibri"/>
              </a:rPr>
              <a:t>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280160"/>
            <a:ext cx="5669280" cy="4937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900"/>
              </a:spcAft>
            </a:pPr>
            <a:r>
              <a:rPr sz="2200" b="1">
                <a:solidFill>
                  <a:srgbClr val="0B2545"/>
                </a:solidFill>
                <a:latin typeface="Calibri"/>
              </a:rPr>
              <a:t>Roadmap</a:t>
            </a:r>
          </a:p>
          <a:p>
            <a:pPr algn="l">
              <a:spcAft>
                <a:spcPts val="900"/>
              </a:spcAft>
            </a:pPr>
            <a:r>
              <a:rPr sz="1700" b="0">
                <a:solidFill>
                  <a:srgbClr val="1F2D3D"/>
                </a:solidFill>
                <a:latin typeface="Calibri"/>
              </a:rPr>
              <a:t>Validate on real open data: ShanghaiT2DM, then CGMacros</a:t>
            </a:r>
          </a:p>
          <a:p>
            <a:pPr algn="l">
              <a:spcAft>
                <a:spcPts val="900"/>
              </a:spcAft>
            </a:pPr>
            <a:r>
              <a:rPr sz="1700" b="0">
                <a:solidFill>
                  <a:srgbClr val="1F2D3D"/>
                </a:solidFill>
                <a:latin typeface="Calibri"/>
              </a:rPr>
              <a:t>Conformal calibration of forecast bands</a:t>
            </a:r>
          </a:p>
          <a:p>
            <a:pPr algn="l">
              <a:spcAft>
                <a:spcPts val="900"/>
              </a:spcAft>
            </a:pPr>
            <a:r>
              <a:rPr sz="1700" b="0">
                <a:solidFill>
                  <a:srgbClr val="1F2D3D"/>
                </a:solidFill>
                <a:latin typeface="Calibri"/>
              </a:rPr>
              <a:t>Interactive clinician dashboard (this mock-up is conceptual)</a:t>
            </a:r>
          </a:p>
          <a:p>
            <a:pPr algn="l">
              <a:spcAft>
                <a:spcPts val="900"/>
              </a:spcAft>
            </a:pPr>
            <a:r>
              <a:rPr sz="1700" b="0">
                <a:solidFill>
                  <a:srgbClr val="1F2D3D"/>
                </a:solidFill>
                <a:latin typeface="Calibri"/>
              </a:rPr>
              <a:t>DPP-4 and SGLT2 inhibitor mechanisms; fasting-day (vrat / Ramadan) scenario</a:t>
            </a:r>
          </a:p>
          <a:p>
            <a:pPr algn="l">
              <a:spcAft>
                <a:spcPts val="900"/>
              </a:spcAft>
            </a:pPr>
            <a:r>
              <a:rPr sz="1700" b="0">
                <a:solidFill>
                  <a:srgbClr val="1F2D3D"/>
                </a:solidFill>
                <a:latin typeface="Calibri"/>
              </a:rPr>
              <a:t>ABDM FHIR R4 import of the EHR profile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92240" y="1280160"/>
            <a:ext cx="5120640" cy="2880360"/>
          </a:xfrm>
          <a:prstGeom prst="roundRect">
            <a:avLst>
              <a:gd name="adj" fmla="val 6000"/>
            </a:avLst>
          </a:prstGeom>
          <a:solidFill>
            <a:srgbClr val="E3E9F2"/>
          </a:solidFill>
          <a:ln w="19050">
            <a:solidFill>
              <a:srgbClr val="0B25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75120" y="1371600"/>
            <a:ext cx="475488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0B2545"/>
                </a:solidFill>
                <a:latin typeface="Calibri"/>
              </a:rPr>
              <a:t>Run 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0" y="1920240"/>
            <a:ext cx="4754880" cy="21945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1F2D3D"/>
                </a:solidFill>
                <a:latin typeface="Consolas"/>
              </a:rPr>
              <a:t>uv sync --all-extras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1F2D3D"/>
                </a:solidFill>
                <a:latin typeface="Consolas"/>
              </a:rPr>
              <a:t>uv run pytest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1F2D3D"/>
                </a:solidFill>
                <a:latin typeface="Consolas"/>
              </a:rPr>
              <a:t>uv run python scripts/demo_day.py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1F2D3D"/>
                </a:solidFill>
                <a:latin typeface="Consolas"/>
              </a:rPr>
              <a:t>uv run uvicorn pratibimb.api.app:app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92240" y="4389120"/>
            <a:ext cx="5120640" cy="1783080"/>
          </a:xfrm>
          <a:prstGeom prst="roundRect">
            <a:avLst>
              <a:gd name="adj" fmla="val 6000"/>
            </a:avLst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75120" y="4480560"/>
            <a:ext cx="475488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2100" b="1">
                <a:solidFill>
                  <a:srgbClr val="F6C56B"/>
                </a:solidFill>
                <a:latin typeface="Calibri"/>
              </a:rPr>
              <a:t>Team SITARAM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5120" y="4937760"/>
            <a:ext cx="4754880" cy="11887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FFFFFF"/>
                </a:solidFill>
                <a:latin typeface="Calibri"/>
              </a:rPr>
              <a:t>Apache-2.0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FFFFFF"/>
                </a:solidFill>
                <a:latin typeface="Calibri"/>
              </a:rPr>
              <a:t>github.com/SriRamkunamsetty/SITARAM_QISCET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FFFFFF"/>
                </a:solidFill>
                <a:latin typeface="Calibri"/>
              </a:rPr>
              <a:t>Thank you. 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